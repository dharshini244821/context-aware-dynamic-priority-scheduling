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Space Grotesk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42254da4-bb2f-4b58-833a-33a6a89bdefc.fntdata" /><ns0:Relationship Id="rIdFont18" Type="http://schemas.openxmlformats.org/officeDocument/2006/relationships/font" Target="fonts/cdfc4917-cea8-4c99-b53e-df104c579297.fntdata" /><ns0:Relationship Id="rIdFont19" Type="http://schemas.openxmlformats.org/officeDocument/2006/relationships/font" Target="fonts/b3224c60-9474-4788-bf89-bbbcf37f291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6625" y="2077342"/>
            <a:ext cx="5238750" cy="304800"/>
          </a:xfrm>
          <a:prstGeom prst="roundRect">
            <a:avLst>
              <a:gd name="adj" fmla="val 50000"/>
            </a:avLst>
          </a:prstGeom>
          <a:solidFill>
            <a:srgbClr val="092040"/>
          </a:solidFill>
          <a:ln w="9525">
            <a:solidFill>
              <a:srgbClr val="006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3923258"/>
            <a:ext cx="7620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3923258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19850" y="4199483"/>
            <a:ext cx="2524125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19850" y="4199483"/>
            <a:ext cx="95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4181" y="2134492"/>
            <a:ext cx="624363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OPERATING SYSTEMS PROJECT • SRM INSTITUTE OF SCIENCE &amp;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843" y="2610742"/>
            <a:ext cx="11644312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Space Grotesk"/>
              </a:rPr>
              <a:t>Context-Aware Dynamic Priority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2593" y="3304133"/>
            <a:ext cx="87868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Automated Driving Control System for Volvo EX90 (NVIDIA DRIVE Orin Platform)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8025" y="4199483"/>
            <a:ext cx="3393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STUDENT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8025" y="4380458"/>
            <a:ext cx="3393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Singu Dharshini (RA2511026020262)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8025" y="4580483"/>
            <a:ext cx="3393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Tella Sri Lakshmi (RA2511026020292)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6575" y="4199483"/>
            <a:ext cx="2571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ACADEMIC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4380458"/>
            <a:ext cx="257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B.Tech CSE • 2026–2027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4580483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Plus Jakarta Sans"/>
              </a:rPr>
              <a:t>Department of CSE, Ramapuram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1768"/>
            <a:ext cx="3505200" cy="2328862"/>
          </a:xfrm>
          <a:prstGeom prst="roundRect">
            <a:avLst>
              <a:gd name="adj" fmla="val 49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21768"/>
            <a:ext cx="3505200" cy="2328862"/>
          </a:xfrm>
          <a:prstGeom prst="roundRect">
            <a:avLst>
              <a:gd name="adj" fmla="val 490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21768"/>
            <a:ext cx="3505200" cy="2328862"/>
          </a:xfrm>
          <a:prstGeom prst="roundRect">
            <a:avLst>
              <a:gd name="adj" fmla="val 49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59893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959893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959893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074193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825" y="3074193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3074193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86950" y="895350"/>
            <a:ext cx="211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Volvo EX90 Core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6155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01. 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646330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 Statement &amp;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31393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Static Priority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83818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Conventional fixed-priority scheduling cannot adjust dynamically to sudden real-time hazards or fresh sensor bursts.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641056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Risk: Critical collision-avoidance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531393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Project 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3883818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Design and evaluate a software simulation of context-aware dynamic scheduling for the Volvo EX90 central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4641056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Goal: Zero safety-task deadline misses.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531393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Reference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3883818"/>
            <a:ext cx="3124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Based on Volvo EX90 central core computer running on NVIDIA DRIVE Orin SoC architecture.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4641056"/>
            <a:ext cx="378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Environment: Python PC Simulation.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52650"/>
            <a:ext cx="10972800" cy="638175"/>
          </a:xfrm>
          <a:prstGeom prst="roundRect">
            <a:avLst>
              <a:gd name="adj" fmla="val 1492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105400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01300" y="2362200"/>
            <a:ext cx="952500" cy="219075"/>
          </a:xfrm>
          <a:prstGeom prst="roundRect">
            <a:avLst>
              <a:gd name="adj" fmla="val 17391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3909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0F9F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90900" y="33909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0F9F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33909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0F9F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339090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0F9F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3019425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4733925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57437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2" y="3629025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912" y="3629025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3629025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700" y="3629025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5286375"/>
            <a:ext cx="11430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9050" y="5286375"/>
            <a:ext cx="11430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6850" y="5286375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5575" y="5286375"/>
            <a:ext cx="11430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02.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Proposed Simulation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6550" y="2400300"/>
            <a:ext cx="857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293B"/>
                </a:solidFill>
                <a:latin typeface="Plus Jakarta Sans"/>
              </a:rPr>
              <a:t>REAL WORLD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257800"/>
            <a:ext cx="1821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EVALUATION 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373" y="3895725"/>
            <a:ext cx="282535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1. Context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643" y="4114800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"Lookout"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2673" y="3895725"/>
            <a:ext cx="282535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2. Priority Calculator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9943" y="4114800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Dynamic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3973" y="3895725"/>
            <a:ext cx="282535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3. Ready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1243" y="4114800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Pre-emptive Heap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5273" y="3895725"/>
            <a:ext cx="282535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4. Simulated CPU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2543" y="4114800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Dispatch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8875" y="5257800"/>
            <a:ext cx="1381125" cy="17145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Response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9050" y="5257800"/>
            <a:ext cx="1428750" cy="17145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Deadline Misses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6850" y="5257800"/>
            <a:ext cx="1209675" cy="17145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Waiting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5575" y="5257800"/>
            <a:ext cx="1323975" cy="17145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CPU Utilization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9200" y="2305050"/>
            <a:ext cx="3452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Volvo EX90 Physical Reference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9200" y="2486025"/>
            <a:ext cx="3452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LiDAR • Cameras • Radar • Vehicle State Sensors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46974" y="3071812"/>
            <a:ext cx="762000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46974" y="3519487"/>
            <a:ext cx="447675" cy="219075"/>
          </a:xfrm>
          <a:prstGeom prst="roundRect">
            <a:avLst>
              <a:gd name="adj" fmla="val 17391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46974" y="3967162"/>
            <a:ext cx="4476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46974" y="4414837"/>
            <a:ext cx="628650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46974" y="4862512"/>
            <a:ext cx="438150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443412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548062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100387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891087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995737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100387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548062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995737"/>
            <a:ext cx="1428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443412"/>
            <a:ext cx="1428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891087"/>
            <a:ext cx="142875" cy="1428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09600" y="2509837"/>
            <a:ext cx="10972800" cy="2676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2509837"/>
          <a:ext cx="10953748" cy="26765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30499"/>
                <a:gridCol w="3606849"/>
                <a:gridCol w="1975395"/>
                <a:gridCol w="3041005"/>
              </a:tblGrid>
              <a:tr h="446087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Task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Simulated Responsibility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Default Criticality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Hazard Urgency Shift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Collision Detection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Assess potential object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Boosted to Max Priority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Vehicle Control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Compute steering &amp; brake actuation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Pre-empts Non-Safety Tasks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Perception &amp; LiDAR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Process image frames and point clouds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Maintains Regular Cadence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608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Path Planning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Generate trajectory coordinates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Recalculated on Route Obstacle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60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Infotainment UI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Render driver display &amp; entertainment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Yields CPU in Hazards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03. TASK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Automated Driving Workload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3174" y="3109912"/>
            <a:ext cx="704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VERY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3174" y="3557587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A580C"/>
                </a:solidFill>
                <a:latin typeface="Plus Jakarta Sans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3174" y="4005262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3174" y="4452937"/>
            <a:ext cx="571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3174" y="4900612"/>
            <a:ext cx="381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5400"/>
            <a:ext cx="10972800" cy="1438126"/>
          </a:xfrm>
          <a:prstGeom prst="roundRect">
            <a:avLst>
              <a:gd name="adj" fmla="val 79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57526"/>
            <a:ext cx="26289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4257526"/>
            <a:ext cx="26289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4333726"/>
            <a:ext cx="26289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4333726"/>
            <a:ext cx="2628900" cy="695325"/>
          </a:xfrm>
          <a:prstGeom prst="roundRect">
            <a:avLst>
              <a:gd name="adj" fmla="val 164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04. MATHEMATICAL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Proposed Dynamic Priority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38125" y="1524000"/>
            <a:ext cx="12668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Plus Jakarta Sans"/>
              </a:rPr>
              <a:t>PRIORITY SCORE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38125" y="1809750"/>
            <a:ext cx="12668250" cy="441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F8FAFC"/>
                </a:solidFill>
                <a:latin typeface="Space Grotesk"/>
              </a:rPr>
              <a:t>P = (w</a:t>
            </a:r>
            <a:r>
              <a:rPr b="1" sz="2000" i="0" u="none">
                <a:solidFill>
                  <a:srgbClr val="F8FAFC"/>
                </a:solidFill>
                <a:latin typeface="Space Grotesk"/>
              </a:rPr>
              <a:t>U</a:t>
            </a:r>
            <a:r>
              <a:rPr b="1" sz="2400" i="0" u="none">
                <a:solidFill>
                  <a:srgbClr val="F8FAFC"/>
                </a:solidFill>
                <a:latin typeface="Space Grotesk"/>
              </a:rPr>
              <a:t> · U) + (w</a:t>
            </a:r>
            <a:r>
              <a:rPr b="1" sz="2000" i="0" u="none">
                <a:solidFill>
                  <a:srgbClr val="F8FAFC"/>
                </a:solidFill>
                <a:latin typeface="Space Grotesk"/>
              </a:rPr>
              <a:t>D</a:t>
            </a:r>
            <a:r>
              <a:rPr b="1" sz="2400" i="0" u="none">
                <a:solidFill>
                  <a:srgbClr val="F8FAFC"/>
                </a:solidFill>
                <a:latin typeface="Space Grotesk"/>
              </a:rPr>
              <a:t> · D) + (w</a:t>
            </a:r>
            <a:r>
              <a:rPr b="1" sz="2000" i="0" u="none">
                <a:solidFill>
                  <a:srgbClr val="F8FAFC"/>
                </a:solidFill>
                <a:latin typeface="Space Grotesk"/>
              </a:rPr>
              <a:t>C</a:t>
            </a:r>
            <a:r>
              <a:rPr b="1" sz="2400" i="0" u="none">
                <a:solidFill>
                  <a:srgbClr val="F8FAFC"/>
                </a:solidFill>
                <a:latin typeface="Space Grotesk"/>
              </a:rPr>
              <a:t> · C) + (w</a:t>
            </a:r>
            <a:r>
              <a:rPr b="1" sz="2000" i="0" u="none">
                <a:solidFill>
                  <a:srgbClr val="F8FAFC"/>
                </a:solidFill>
                <a:latin typeface="Space Grotesk"/>
              </a:rPr>
              <a:t>F</a:t>
            </a:r>
            <a:r>
              <a:rPr b="1" sz="2400" i="0" u="none">
                <a:solidFill>
                  <a:srgbClr val="F8FAFC"/>
                </a:solidFill>
                <a:latin typeface="Space Grotesk"/>
              </a:rPr>
              <a:t> · 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38125" y="2327820"/>
            <a:ext cx="12668250" cy="1771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Weights sum to 1.0 (w</a:t>
            </a:r>
            <a:r>
              <a:rPr b="0" sz="812" i="0" u="none">
                <a:solidFill>
                  <a:srgbClr val="94A3B8"/>
                </a:solidFill>
                <a:latin typeface="Plus Jakarta Sans"/>
              </a:rPr>
              <a:t>U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= 0.30, w</a:t>
            </a:r>
            <a:r>
              <a:rPr b="0" sz="812" i="0" u="none">
                <a:solidFill>
                  <a:srgbClr val="94A3B8"/>
                </a:solidFill>
                <a:latin typeface="Plus Jakarta Sans"/>
              </a:rPr>
              <a:t>D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= 0.30, w</a:t>
            </a:r>
            <a:r>
              <a:rPr b="0" sz="812" i="0" u="none">
                <a:solidFill>
                  <a:srgbClr val="94A3B8"/>
                </a:solidFill>
                <a:latin typeface="Plus Jakarta Sans"/>
              </a:rPr>
              <a:t>C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= 0.25, w</a:t>
            </a:r>
            <a:r>
              <a:rPr b="0" sz="812" i="0" u="none">
                <a:solidFill>
                  <a:srgbClr val="94A3B8"/>
                </a:solidFill>
                <a:latin typeface="Plus Jakarta Sans"/>
              </a:rPr>
              <a:t>F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= 0.15)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419451"/>
            <a:ext cx="302537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6BB4"/>
                </a:solidFill>
                <a:latin typeface="Plus Jakarta Sans"/>
              </a:rPr>
              <a:t>U - Hazard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638526"/>
            <a:ext cx="2400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Scaled 0-1 based on immediate threat distance.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2825" y="4419451"/>
            <a:ext cx="302537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6BB4"/>
                </a:solidFill>
                <a:latin typeface="Plus Jakarta Sans"/>
              </a:rPr>
              <a:t>D - Deadline Proximity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2825" y="4638526"/>
            <a:ext cx="2400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Inversely proportional to remaining task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4495651"/>
            <a:ext cx="302537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6BB4"/>
                </a:solidFill>
                <a:latin typeface="Plus Jakarta Sans"/>
              </a:rPr>
              <a:t>C - Safety Criticality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4714726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Pre-assigned baseline task safety level.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4495651"/>
            <a:ext cx="302537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6BB4"/>
                </a:solidFill>
                <a:latin typeface="Plus Jakarta Sans"/>
              </a:rPr>
              <a:t>F - Sensor Freshness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4714726"/>
            <a:ext cx="288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Recency of incoming input frame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96500" y="809625"/>
            <a:ext cx="1485900" cy="25717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72175" y="2805112"/>
            <a:ext cx="5610225" cy="2124075"/>
          </a:xfrm>
          <a:prstGeom prst="roundRect">
            <a:avLst>
              <a:gd name="adj" fmla="val 5381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24175"/>
            <a:ext cx="5133975" cy="5524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590925"/>
            <a:ext cx="5133975" cy="5524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257675"/>
            <a:ext cx="5133975" cy="5524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3929062"/>
            <a:ext cx="5133975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924175"/>
            <a:ext cx="38100" cy="552450"/>
          </a:xfrm>
          <a:prstGeom prst="rect">
            <a:avLst/>
          </a:prstGeom>
          <a:solidFill>
            <a:srgbClr val="006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590925"/>
            <a:ext cx="38100" cy="552450"/>
          </a:xfrm>
          <a:prstGeom prst="rect">
            <a:avLst/>
          </a:prstGeom>
          <a:solidFill>
            <a:srgbClr val="006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257675"/>
            <a:ext cx="38100" cy="552450"/>
          </a:xfrm>
          <a:prstGeom prst="rect">
            <a:avLst/>
          </a:prstGeom>
          <a:solidFill>
            <a:srgbClr val="006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10800" y="866775"/>
            <a:ext cx="1352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SIMULATION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62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05. MONITORING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8001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Lookout: Continuous Context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3043237"/>
            <a:ext cx="5981700" cy="2190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Emergency Pedestrian Hazard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3376612"/>
            <a:ext cx="52292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881337"/>
                </a:solidFill>
                <a:latin typeface="Plus Jakarta Sans"/>
              </a:rPr>
              <a:t>When a simulated pedestrian enters the vehicle path, Lookout switches context to </a:t>
            </a:r>
            <a:r>
              <a:rPr b="1" sz="1050" i="0" u="none">
                <a:solidFill>
                  <a:srgbClr val="881337"/>
                </a:solidFill>
                <a:latin typeface="Plus Jakarta Sans"/>
              </a:rPr>
              <a:t>EMERGENCY</a:t>
            </a:r>
            <a:r>
              <a:rPr b="0" sz="1050" i="0" u="none">
                <a:solidFill>
                  <a:srgbClr val="881337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038475"/>
            <a:ext cx="5988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1. Observe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209925"/>
            <a:ext cx="5988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Capture simulated sensor timestamp &amp; pedestrian triggers.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705225"/>
            <a:ext cx="5988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2. Classify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876675"/>
            <a:ext cx="5988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Set state: NORMAL, ELEVATED RISK, or EMERGENCY.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371975"/>
            <a:ext cx="5988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3. Update &amp; Notify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4543425"/>
            <a:ext cx="5988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Trigger instant priority recalculation in ready queue.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4043362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Urgency (U):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Jump to 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600" y="4233862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Collision Priority: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Boosted to 0.94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4424362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Action:</a:t>
            </a:r>
            <a:r>
              <a:rPr b="0" sz="975" i="0" u="none">
                <a:solidFill>
                  <a:srgbClr val="475569"/>
                </a:solidFill>
                <a:latin typeface="Plus Jakarta Sans"/>
              </a:rPr>
              <a:t> Pre-empts lower priority tasks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2421731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9956" y="3157537"/>
            <a:ext cx="2421731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0312" y="3157537"/>
            <a:ext cx="2421731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0668" y="3157537"/>
            <a:ext cx="2421731" cy="1419225"/>
          </a:xfrm>
          <a:prstGeom prst="roundRect">
            <a:avLst>
              <a:gd name="adj" fmla="val 805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3771900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771900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771900"/>
            <a:ext cx="1238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06. DISPATCH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NEFT Algorithm (Emergency Dispatch)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539" y="3395662"/>
            <a:ext cx="243185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6BB4"/>
                </a:solidFill>
                <a:latin typeface="Plus Jakarta San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743" y="3757612"/>
            <a:ext cx="25534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Event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539" y="4033837"/>
            <a:ext cx="243185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Notice new context or emergency hazard trigger.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896" y="3395662"/>
            <a:ext cx="243185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6BB4"/>
                </a:solidFill>
                <a:latin typeface="Plus Jakarta San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099" y="3757612"/>
            <a:ext cx="25534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Evaluate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4896" y="4033837"/>
            <a:ext cx="243185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Fetch urgency, deadline, criticality &amp; data freshness.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252" y="3395662"/>
            <a:ext cx="243185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6BB4"/>
                </a:solidFill>
                <a:latin typeface="Plus Jakarta Sans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4456" y="3757612"/>
            <a:ext cx="25534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Recompute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5252" y="4033837"/>
            <a:ext cx="243185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Calculate new scores P for all ready tasks.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5608" y="3395662"/>
            <a:ext cx="243185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6A34A"/>
                </a:solidFill>
                <a:latin typeface="Plus Jakarta Sans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4812" y="3757612"/>
            <a:ext cx="25534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Pre-empt &amp;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5608" y="4033837"/>
            <a:ext cx="2431851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Dispatch highest score task to CPU immediately.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72175" y="3019425"/>
            <a:ext cx="5610225" cy="1695450"/>
          </a:xfrm>
          <a:prstGeom prst="roundRect">
            <a:avLst>
              <a:gd name="adj" fmla="val 6741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67012"/>
            <a:ext cx="5133975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38537"/>
            <a:ext cx="5133975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10062"/>
            <a:ext cx="5133975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962275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7528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524375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07.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Technology Stack &amp; Project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3257550"/>
            <a:ext cx="5981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SIMULATION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300" y="3514725"/>
            <a:ext cx="59817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2E8F0"/>
                </a:solidFill>
                <a:latin typeface="monospace"/>
              </a:rPr>
              <a:t>📁 volvo_scheduler_sim/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3714750"/>
            <a:ext cx="5829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monospace"/>
              </a:rPr>
              <a:t>├── app.py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Streamlit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3867150"/>
            <a:ext cx="5829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monospace"/>
              </a:rPr>
              <a:t>├── context_monitor.py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Lookout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4019550"/>
            <a:ext cx="5829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monospace"/>
              </a:rPr>
              <a:t>├── priority_model.py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P Score Calculator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4171950"/>
            <a:ext cx="5829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monospace"/>
              </a:rPr>
              <a:t>├── scheduler.py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Pre-emptive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4324350"/>
            <a:ext cx="5829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monospace"/>
              </a:rPr>
              <a:t>└── metrics.py </a:t>
            </a:r>
            <a:r>
              <a:rPr b="0" sz="975" i="0" u="none">
                <a:solidFill>
                  <a:srgbClr val="64748B"/>
                </a:solidFill>
                <a:latin typeface="monospace"/>
              </a:rPr>
              <a:t># Latency &amp; Miss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50" y="2928937"/>
            <a:ext cx="3178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Python 3.x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3109912"/>
            <a:ext cx="3178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Simulation core, priority queue &amp; event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3700462"/>
            <a:ext cx="32742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Streamlit / Plotly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881437"/>
            <a:ext cx="3274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Interactive dashboard &amp; Gantt chart timelines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4471987"/>
            <a:ext cx="383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Pandas &amp; Heapq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525" y="4652962"/>
            <a:ext cx="3833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Task metrics logging and ready-queue heap ordering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962"/>
            <a:ext cx="53721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33712"/>
            <a:ext cx="53721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06BB4"/>
                </a:solidFill>
                <a:latin typeface="Plus Jakarta Sans"/>
              </a:rPr>
              <a:t>08. TESTING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Demonstration Plan &amp; Evaluation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367087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Test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700462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1.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Baseline Run: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Execute workload using Fixed-Priority policy.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48112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2.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Hazard Injection: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Trigger pedestrian event at timestamp t =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195762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3.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Dynamic Run: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Execute context-aware scheduler under identical workload.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271837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Key Performance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605212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Response Time: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Task completion minus arrival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833812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Deadline Miss Rate: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% of safety tasks missing deadlines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062412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Emergency Latency: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Hazard detection to execution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291012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334155"/>
                </a:solidFill>
                <a:latin typeface="Plus Jakarta Sans"/>
              </a:rPr>
              <a:t>CPU Utilization: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Total active CPU vs idle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95800" y="1733550"/>
            <a:ext cx="3200400" cy="304800"/>
          </a:xfrm>
          <a:prstGeom prst="roundRect">
            <a:avLst>
              <a:gd name="adj" fmla="val 50000"/>
            </a:avLst>
          </a:prstGeom>
          <a:solidFill>
            <a:srgbClr val="0C2C38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38500" y="4267200"/>
            <a:ext cx="5715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0" y="4267200"/>
            <a:ext cx="571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48150" y="1790700"/>
            <a:ext cx="3695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4D399"/>
                </a:solidFill>
                <a:latin typeface="Plus Jakarta Sans"/>
              </a:rPr>
              <a:t>PROJECT SUMMARY &amp; 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296" y="2266950"/>
            <a:ext cx="1125140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Space Grotesk"/>
              </a:rPr>
              <a:t>Improving Safety-Critical Dispatch via Context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1156" y="3371850"/>
            <a:ext cx="892968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Demonstrates that dynamic priority scheduling reduces emergency response latency for Volvo EX90's simulated core computing workload without hardware modification.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4125" y="4953000"/>
            <a:ext cx="7143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SRM Institute of Science and Technology • Academic Year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